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6858000" cy="1219169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6638544" cy="11969496"/>
          </a:xfrm>
          <a:prstGeom prst="rect">
            <a:avLst/>
          </a:prstGeom>
          <a:noFill/>
          <a:ln w="27940">
            <a:solidFill>
              <a:srgbClr val="1F5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411480"/>
            <a:ext cx="5980176" cy="914400"/>
          </a:xfrm>
          <a:prstGeom prst="roundRect">
            <a:avLst/>
          </a:prstGeom>
          <a:solidFill>
            <a:srgbClr val="397B47"/>
          </a:solidFill>
          <a:ln>
            <a:solidFill>
              <a:srgbClr val="39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FFFFFF"/>
                </a:solidFill>
              </a:rPr>
              <a:t>Effects of Urea on Plant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0200"/>
            <a:ext cx="5797296" cy="662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D1D1D"/>
                </a:solidFill>
              </a:rPr>
              <a:t>A student project on how urea influences germination, plant health, and sustainable agricultural outcomes.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8732520"/>
            <a:ext cx="5797296" cy="2697480"/>
          </a:xfrm>
          <a:prstGeom prst="rect">
            <a:avLst/>
          </a:prstGeom>
          <a:solidFill>
            <a:srgbClr val="F3F9F4"/>
          </a:solidFill>
          <a:ln w="22860">
            <a:solidFill>
              <a:srgbClr val="4E8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376D41"/>
                </a:solidFill>
              </a:rPr>
              <a:t>Image Placeholder: Healthy crop field with fertilizer application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6638544" cy="11969496"/>
          </a:xfrm>
          <a:prstGeom prst="rect">
            <a:avLst/>
          </a:prstGeom>
          <a:noFill/>
          <a:ln w="27940">
            <a:solidFill>
              <a:srgbClr val="1F5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411480"/>
            <a:ext cx="5980176" cy="914400"/>
          </a:xfrm>
          <a:prstGeom prst="roundRect">
            <a:avLst/>
          </a:prstGeom>
          <a:solidFill>
            <a:srgbClr val="397B47"/>
          </a:solidFill>
          <a:ln>
            <a:solidFill>
              <a:srgbClr val="39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0200"/>
            <a:ext cx="5797296" cy="662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D1D1D"/>
                </a:solidFill>
              </a:rPr>
              <a:t>• Urea is a widely used nitrogen fertilizer in agriculture. It supports chlorophyll formation, leafy growth, and better crop productivity when applied at an appropriate dose.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D1D1D"/>
                </a:solidFill>
              </a:rPr>
              <a:t>• This project explains both the beneficial effects and the risks of overusing urea in plant systems and soil environments.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8732520"/>
            <a:ext cx="5797296" cy="2697480"/>
          </a:xfrm>
          <a:prstGeom prst="rect">
            <a:avLst/>
          </a:prstGeom>
          <a:solidFill>
            <a:srgbClr val="F3F9F4"/>
          </a:solidFill>
          <a:ln w="22860">
            <a:solidFill>
              <a:srgbClr val="4E8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376D41"/>
                </a:solidFill>
              </a:rPr>
              <a:t>Image Placeholder: Urea granules and seedlings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6638544" cy="11969496"/>
          </a:xfrm>
          <a:prstGeom prst="rect">
            <a:avLst/>
          </a:prstGeom>
          <a:noFill/>
          <a:ln w="27940">
            <a:solidFill>
              <a:srgbClr val="1F5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411480"/>
            <a:ext cx="5980176" cy="914400"/>
          </a:xfrm>
          <a:prstGeom prst="roundRect">
            <a:avLst/>
          </a:prstGeom>
          <a:solidFill>
            <a:srgbClr val="397B47"/>
          </a:solidFill>
          <a:ln>
            <a:solidFill>
              <a:srgbClr val="39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FFFFFF"/>
                </a:solidFill>
              </a:rPr>
              <a:t>Aim of the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0200"/>
            <a:ext cx="5797296" cy="662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D1D1D"/>
                </a:solidFill>
              </a:rPr>
              <a:t>• To study the effect of different quantities of urea on seed germination and plant growth.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D1D1D"/>
                </a:solidFill>
              </a:rPr>
              <a:t>• To compare growth indicators such as height, number of leaves, and leaf color across treatment groups.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8732520"/>
            <a:ext cx="5797296" cy="2697480"/>
          </a:xfrm>
          <a:prstGeom prst="rect">
            <a:avLst/>
          </a:prstGeom>
          <a:solidFill>
            <a:srgbClr val="F3F9F4"/>
          </a:solidFill>
          <a:ln w="22860">
            <a:solidFill>
              <a:srgbClr val="4E8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376D41"/>
                </a:solidFill>
              </a:rPr>
              <a:t>Image Placeholder: Labeled experimental pots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6638544" cy="11969496"/>
          </a:xfrm>
          <a:prstGeom prst="rect">
            <a:avLst/>
          </a:prstGeom>
          <a:noFill/>
          <a:ln w="27940">
            <a:solidFill>
              <a:srgbClr val="1F5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411480"/>
            <a:ext cx="5980176" cy="914400"/>
          </a:xfrm>
          <a:prstGeom prst="roundRect">
            <a:avLst/>
          </a:prstGeom>
          <a:solidFill>
            <a:srgbClr val="397B47"/>
          </a:solidFill>
          <a:ln>
            <a:solidFill>
              <a:srgbClr val="39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FFFFFF"/>
                </a:solidFill>
              </a:rPr>
              <a:t>Hypothesis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0200"/>
            <a:ext cx="5797296" cy="662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D1D1D"/>
                </a:solidFill>
              </a:rPr>
              <a:t>• Plants receiving an optimum amount of urea will grow faster and appear healthier due to improved nitrogen nutrition.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D1D1D"/>
                </a:solidFill>
              </a:rPr>
              <a:t>• Plants exposed to excessive urea may show stress symptoms such as leaf burn, weak roots, and reduced growth.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8732520"/>
            <a:ext cx="5797296" cy="2697480"/>
          </a:xfrm>
          <a:prstGeom prst="rect">
            <a:avLst/>
          </a:prstGeom>
          <a:solidFill>
            <a:srgbClr val="F3F9F4"/>
          </a:solidFill>
          <a:ln w="22860">
            <a:solidFill>
              <a:srgbClr val="4E8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376D41"/>
                </a:solidFill>
              </a:rPr>
              <a:t>Image Placeholder: Correct dose vs excessive dose comparison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6638544" cy="11969496"/>
          </a:xfrm>
          <a:prstGeom prst="rect">
            <a:avLst/>
          </a:prstGeom>
          <a:noFill/>
          <a:ln w="27940">
            <a:solidFill>
              <a:srgbClr val="1F5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411480"/>
            <a:ext cx="5980176" cy="914400"/>
          </a:xfrm>
          <a:prstGeom prst="roundRect">
            <a:avLst/>
          </a:prstGeom>
          <a:solidFill>
            <a:srgbClr val="397B47"/>
          </a:solidFill>
          <a:ln>
            <a:solidFill>
              <a:srgbClr val="39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FFFFFF"/>
                </a:solidFill>
              </a:rPr>
              <a:t>Germination of Seeds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0200"/>
            <a:ext cx="5797296" cy="662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D1D1D"/>
                </a:solidFill>
              </a:rPr>
              <a:t>• Germination is the process by which a seed develops into a seedling after absorbing water and activating its metabolism.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D1D1D"/>
                </a:solidFill>
              </a:rPr>
              <a:t>• Successful germination requires a viable embryo and favorable environmental conditions.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8732520"/>
            <a:ext cx="5797296" cy="2697480"/>
          </a:xfrm>
          <a:prstGeom prst="rect">
            <a:avLst/>
          </a:prstGeom>
          <a:solidFill>
            <a:srgbClr val="F3F9F4"/>
          </a:solidFill>
          <a:ln w="22860">
            <a:solidFill>
              <a:srgbClr val="4E8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376D41"/>
                </a:solidFill>
              </a:rPr>
              <a:t>Image Placeholder: Stages of seed germination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6638544" cy="11969496"/>
          </a:xfrm>
          <a:prstGeom prst="rect">
            <a:avLst/>
          </a:prstGeom>
          <a:noFill/>
          <a:ln w="27940">
            <a:solidFill>
              <a:srgbClr val="1F5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411480"/>
            <a:ext cx="5980176" cy="914400"/>
          </a:xfrm>
          <a:prstGeom prst="roundRect">
            <a:avLst/>
          </a:prstGeom>
          <a:solidFill>
            <a:srgbClr val="397B47"/>
          </a:solidFill>
          <a:ln>
            <a:solidFill>
              <a:srgbClr val="39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FFFFFF"/>
                </a:solidFill>
              </a:rPr>
              <a:t>Factors Affecting Seed Germination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0200"/>
            <a:ext cx="5797296" cy="662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D1D1D"/>
                </a:solidFill>
              </a:rPr>
              <a:t>• Seed germination is influenced by external factors such as water, oxygen, temperature, and light.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D1D1D"/>
                </a:solidFill>
              </a:rPr>
              <a:t>• It is also affected by internal factors like vitality, viability, and dormancy status.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8732520"/>
            <a:ext cx="5797296" cy="2697480"/>
          </a:xfrm>
          <a:prstGeom prst="rect">
            <a:avLst/>
          </a:prstGeom>
          <a:solidFill>
            <a:srgbClr val="F3F9F4"/>
          </a:solidFill>
          <a:ln w="22860">
            <a:solidFill>
              <a:srgbClr val="4E8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376D41"/>
                </a:solidFill>
              </a:rPr>
              <a:t>Image Placeholder: External and internal factor chart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6638544" cy="11969496"/>
          </a:xfrm>
          <a:prstGeom prst="rect">
            <a:avLst/>
          </a:prstGeom>
          <a:noFill/>
          <a:ln w="27940">
            <a:solidFill>
              <a:srgbClr val="1F5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411480"/>
            <a:ext cx="5980176" cy="914400"/>
          </a:xfrm>
          <a:prstGeom prst="roundRect">
            <a:avLst/>
          </a:prstGeom>
          <a:solidFill>
            <a:srgbClr val="397B47"/>
          </a:solidFill>
          <a:ln>
            <a:solidFill>
              <a:srgbClr val="39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FFFFFF"/>
                </a:solidFill>
              </a:rPr>
              <a:t>External Factors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0200"/>
            <a:ext cx="5797296" cy="662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D1D1D"/>
                </a:solidFill>
              </a:rPr>
              <a:t>• External conditions surrounding the seed directly control when and how fast germination occurs.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D1D1D"/>
                </a:solidFill>
              </a:rPr>
              <a:t>• Major external factors include water, oxygen, temperature, light, and soil condition.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8732520"/>
            <a:ext cx="5797296" cy="2697480"/>
          </a:xfrm>
          <a:prstGeom prst="rect">
            <a:avLst/>
          </a:prstGeom>
          <a:solidFill>
            <a:srgbClr val="F3F9F4"/>
          </a:solidFill>
          <a:ln w="22860">
            <a:solidFill>
              <a:srgbClr val="4E8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376D41"/>
                </a:solidFill>
              </a:rPr>
              <a:t>Image Placeholder: Environmental condition icons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6638544" cy="11969496"/>
          </a:xfrm>
          <a:prstGeom prst="rect">
            <a:avLst/>
          </a:prstGeom>
          <a:noFill/>
          <a:ln w="27940">
            <a:solidFill>
              <a:srgbClr val="1F5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411480"/>
            <a:ext cx="5980176" cy="914400"/>
          </a:xfrm>
          <a:prstGeom prst="roundRect">
            <a:avLst/>
          </a:prstGeom>
          <a:solidFill>
            <a:srgbClr val="397B47"/>
          </a:solidFill>
          <a:ln>
            <a:solidFill>
              <a:srgbClr val="39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FFFFFF"/>
                </a:solidFill>
              </a:rPr>
              <a:t>Water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0200"/>
            <a:ext cx="5797296" cy="662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D1D1D"/>
                </a:solidFill>
              </a:rPr>
              <a:t>• Water softens the seed coat, activates enzymes, and supports the movement of stored food to the embryo.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D1D1D"/>
                </a:solidFill>
              </a:rPr>
              <a:t>• Too little water delays germination, while excess water can reduce oxygen availability.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8732520"/>
            <a:ext cx="5797296" cy="2697480"/>
          </a:xfrm>
          <a:prstGeom prst="rect">
            <a:avLst/>
          </a:prstGeom>
          <a:solidFill>
            <a:srgbClr val="F3F9F4"/>
          </a:solidFill>
          <a:ln w="22860">
            <a:solidFill>
              <a:srgbClr val="4E8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376D41"/>
                </a:solidFill>
              </a:rPr>
              <a:t>Image Placeholder: Watering seed trays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6638544" cy="11969496"/>
          </a:xfrm>
          <a:prstGeom prst="rect">
            <a:avLst/>
          </a:prstGeom>
          <a:noFill/>
          <a:ln w="27940">
            <a:solidFill>
              <a:srgbClr val="1F5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411480"/>
            <a:ext cx="5980176" cy="914400"/>
          </a:xfrm>
          <a:prstGeom prst="roundRect">
            <a:avLst/>
          </a:prstGeom>
          <a:solidFill>
            <a:srgbClr val="397B47"/>
          </a:solidFill>
          <a:ln>
            <a:solidFill>
              <a:srgbClr val="39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FFFFFF"/>
                </a:solidFill>
              </a:rPr>
              <a:t>Oxygen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0200"/>
            <a:ext cx="5797296" cy="662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D1D1D"/>
                </a:solidFill>
              </a:rPr>
              <a:t>• Seeds need oxygen for respiration, which produces energy for growth and cell division.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D1D1D"/>
                </a:solidFill>
              </a:rPr>
              <a:t>• Compacted or waterlogged soil lowers oxygen supply and can decrease germination percentage.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8732520"/>
            <a:ext cx="5797296" cy="2697480"/>
          </a:xfrm>
          <a:prstGeom prst="rect">
            <a:avLst/>
          </a:prstGeom>
          <a:solidFill>
            <a:srgbClr val="F3F9F4"/>
          </a:solidFill>
          <a:ln w="22860">
            <a:solidFill>
              <a:srgbClr val="4E8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376D41"/>
                </a:solidFill>
              </a:rPr>
              <a:t>Image Placeholder: Seed respiration in soil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6638544" cy="11969496"/>
          </a:xfrm>
          <a:prstGeom prst="rect">
            <a:avLst/>
          </a:prstGeom>
          <a:noFill/>
          <a:ln w="27940">
            <a:solidFill>
              <a:srgbClr val="1F5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411480"/>
            <a:ext cx="5980176" cy="914400"/>
          </a:xfrm>
          <a:prstGeom prst="roundRect">
            <a:avLst/>
          </a:prstGeom>
          <a:solidFill>
            <a:srgbClr val="397B47"/>
          </a:solidFill>
          <a:ln>
            <a:solidFill>
              <a:srgbClr val="39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FFFFFF"/>
                </a:solidFill>
              </a:rPr>
              <a:t>Temperature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0200"/>
            <a:ext cx="5797296" cy="662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D1D1D"/>
                </a:solidFill>
              </a:rPr>
              <a:t>• Temperature regulates enzyme activity and metabolic speed during germination.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D1D1D"/>
                </a:solidFill>
              </a:rPr>
              <a:t>• Every species has an optimum temperature range, and extremes can inhibit germination.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8732520"/>
            <a:ext cx="5797296" cy="2697480"/>
          </a:xfrm>
          <a:prstGeom prst="rect">
            <a:avLst/>
          </a:prstGeom>
          <a:solidFill>
            <a:srgbClr val="F3F9F4"/>
          </a:solidFill>
          <a:ln w="22860">
            <a:solidFill>
              <a:srgbClr val="4E8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376D41"/>
                </a:solidFill>
              </a:rPr>
              <a:t>Image Placeholder: Thermometer with seedlings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6638544" cy="11969496"/>
          </a:xfrm>
          <a:prstGeom prst="rect">
            <a:avLst/>
          </a:prstGeom>
          <a:noFill/>
          <a:ln w="27940">
            <a:solidFill>
              <a:srgbClr val="1F5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411480"/>
            <a:ext cx="5980176" cy="914400"/>
          </a:xfrm>
          <a:prstGeom prst="roundRect">
            <a:avLst/>
          </a:prstGeom>
          <a:solidFill>
            <a:srgbClr val="397B47"/>
          </a:solidFill>
          <a:ln>
            <a:solidFill>
              <a:srgbClr val="39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FFFFFF"/>
                </a:solidFill>
              </a:rPr>
              <a:t>Light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0200"/>
            <a:ext cx="5797296" cy="662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D1D1D"/>
                </a:solidFill>
              </a:rPr>
              <a:t>• Some seeds germinate better in light, while others germinate better in darkness.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D1D1D"/>
                </a:solidFill>
              </a:rPr>
              <a:t>• Light also influences early seedling development after sprouting.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8732520"/>
            <a:ext cx="5797296" cy="2697480"/>
          </a:xfrm>
          <a:prstGeom prst="rect">
            <a:avLst/>
          </a:prstGeom>
          <a:solidFill>
            <a:srgbClr val="F3F9F4"/>
          </a:solidFill>
          <a:ln w="22860">
            <a:solidFill>
              <a:srgbClr val="4E8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376D41"/>
                </a:solidFill>
              </a:rPr>
              <a:t>Image Placeholder: Light vs shade germination setup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6638544" cy="11969496"/>
          </a:xfrm>
          <a:prstGeom prst="rect">
            <a:avLst/>
          </a:prstGeom>
          <a:noFill/>
          <a:ln w="27940">
            <a:solidFill>
              <a:srgbClr val="1F5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411480"/>
            <a:ext cx="5980176" cy="914400"/>
          </a:xfrm>
          <a:prstGeom prst="roundRect">
            <a:avLst/>
          </a:prstGeom>
          <a:solidFill>
            <a:srgbClr val="397B47"/>
          </a:solidFill>
          <a:ln>
            <a:solidFill>
              <a:srgbClr val="39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FFFFFF"/>
                </a:solidFill>
              </a:rPr>
              <a:t>Internal Factors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0200"/>
            <a:ext cx="5797296" cy="662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D1D1D"/>
                </a:solidFill>
              </a:rPr>
              <a:t>• Internal factors are properties of the seed itself that determine its readiness to germinate.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D1D1D"/>
                </a:solidFill>
              </a:rPr>
              <a:t>• These include vitality, longevity or viability, and dormancy mechanisms.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8732520"/>
            <a:ext cx="5797296" cy="2697480"/>
          </a:xfrm>
          <a:prstGeom prst="rect">
            <a:avLst/>
          </a:prstGeom>
          <a:solidFill>
            <a:srgbClr val="F3F9F4"/>
          </a:solidFill>
          <a:ln w="22860">
            <a:solidFill>
              <a:srgbClr val="4E8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376D41"/>
                </a:solidFill>
              </a:rPr>
              <a:t>Image Placeholder: Seed anatomy cross-section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6638544" cy="11969496"/>
          </a:xfrm>
          <a:prstGeom prst="rect">
            <a:avLst/>
          </a:prstGeom>
          <a:noFill/>
          <a:ln w="27940">
            <a:solidFill>
              <a:srgbClr val="1F5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411480"/>
            <a:ext cx="5980176" cy="914400"/>
          </a:xfrm>
          <a:prstGeom prst="roundRect">
            <a:avLst/>
          </a:prstGeom>
          <a:solidFill>
            <a:srgbClr val="397B47"/>
          </a:solidFill>
          <a:ln>
            <a:solidFill>
              <a:srgbClr val="39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FFFFFF"/>
                </a:solidFill>
              </a:rPr>
              <a:t>Vitality, Longevity, and Dormancy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0200"/>
            <a:ext cx="5797296" cy="662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D1D1D"/>
                </a:solidFill>
              </a:rPr>
              <a:t>• Vitality is the ability of a seed to produce a strong, healthy seedling.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D1D1D"/>
                </a:solidFill>
              </a:rPr>
              <a:t>• Longevity (viability) is the period a seed remains capable of germination.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D1D1D"/>
                </a:solidFill>
              </a:rPr>
              <a:t>• Dormancy is a temporary resting state that prevents germination even in suitable conditions.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8732520"/>
            <a:ext cx="5797296" cy="2697480"/>
          </a:xfrm>
          <a:prstGeom prst="rect">
            <a:avLst/>
          </a:prstGeom>
          <a:solidFill>
            <a:srgbClr val="F3F9F4"/>
          </a:solidFill>
          <a:ln w="22860">
            <a:solidFill>
              <a:srgbClr val="4E8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376D41"/>
                </a:solidFill>
              </a:rPr>
              <a:t>Image Placeholder: Dormant seed vs germinated seed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6638544" cy="11969496"/>
          </a:xfrm>
          <a:prstGeom prst="rect">
            <a:avLst/>
          </a:prstGeom>
          <a:noFill/>
          <a:ln w="27940">
            <a:solidFill>
              <a:srgbClr val="1F5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411480"/>
            <a:ext cx="5980176" cy="914400"/>
          </a:xfrm>
          <a:prstGeom prst="roundRect">
            <a:avLst/>
          </a:prstGeom>
          <a:solidFill>
            <a:srgbClr val="397B47"/>
          </a:solidFill>
          <a:ln>
            <a:solidFill>
              <a:srgbClr val="39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FFFFFF"/>
                </a:solidFill>
              </a:rPr>
              <a:t>Urea and Its Effects on Plants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0200"/>
            <a:ext cx="5797296" cy="662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D1D1D"/>
                </a:solidFill>
              </a:rPr>
              <a:t>• Urea is rich in nitrogen and is converted in soil into plant-available forms.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D1D1D"/>
                </a:solidFill>
              </a:rPr>
              <a:t>• At balanced levels, it improves vegetative growth; at excessive levels, it can damage roots and foliage.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8732520"/>
            <a:ext cx="5797296" cy="2697480"/>
          </a:xfrm>
          <a:prstGeom prst="rect">
            <a:avLst/>
          </a:prstGeom>
          <a:solidFill>
            <a:srgbClr val="F3F9F4"/>
          </a:solidFill>
          <a:ln w="22860">
            <a:solidFill>
              <a:srgbClr val="4E8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376D41"/>
                </a:solidFill>
              </a:rPr>
              <a:t>Image Placeholder: Nitrogen transformation and plant uptake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6638544" cy="11969496"/>
          </a:xfrm>
          <a:prstGeom prst="rect">
            <a:avLst/>
          </a:prstGeom>
          <a:noFill/>
          <a:ln w="27940">
            <a:solidFill>
              <a:srgbClr val="1F5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411480"/>
            <a:ext cx="5980176" cy="914400"/>
          </a:xfrm>
          <a:prstGeom prst="roundRect">
            <a:avLst/>
          </a:prstGeom>
          <a:solidFill>
            <a:srgbClr val="397B47"/>
          </a:solidFill>
          <a:ln>
            <a:solidFill>
              <a:srgbClr val="39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FFFFFF"/>
                </a:solidFill>
              </a:rPr>
              <a:t>How to Use Urea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0200"/>
            <a:ext cx="5797296" cy="662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D1D1D"/>
                </a:solidFill>
              </a:rPr>
              <a:t>• Apply urea in measured doses based on crop stage and soil condition.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D1D1D"/>
                </a:solidFill>
              </a:rPr>
              <a:t>• Place it near the root zone, avoid over-application, and irrigate after use to reduce nitrogen loss.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8732520"/>
            <a:ext cx="5797296" cy="2697480"/>
          </a:xfrm>
          <a:prstGeom prst="rect">
            <a:avLst/>
          </a:prstGeom>
          <a:solidFill>
            <a:srgbClr val="F3F9F4"/>
          </a:solidFill>
          <a:ln w="22860">
            <a:solidFill>
              <a:srgbClr val="4E8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376D41"/>
                </a:solidFill>
              </a:rPr>
              <a:t>Image Placeholder: Safe fertilizer application method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6638544" cy="11969496"/>
          </a:xfrm>
          <a:prstGeom prst="rect">
            <a:avLst/>
          </a:prstGeom>
          <a:noFill/>
          <a:ln w="27940">
            <a:solidFill>
              <a:srgbClr val="1F5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411480"/>
            <a:ext cx="5980176" cy="914400"/>
          </a:xfrm>
          <a:prstGeom prst="roundRect">
            <a:avLst/>
          </a:prstGeom>
          <a:solidFill>
            <a:srgbClr val="397B47"/>
          </a:solidFill>
          <a:ln>
            <a:solidFill>
              <a:srgbClr val="39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FFFFFF"/>
                </a:solidFill>
              </a:rPr>
              <a:t>Advantages of Urea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0200"/>
            <a:ext cx="5797296" cy="662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D1D1D"/>
                </a:solidFill>
              </a:rPr>
              <a:t>• High nitrogen content supports rapid vegetative growth and greener leaves.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D1D1D"/>
                </a:solidFill>
              </a:rPr>
              <a:t>• It is economical, easy to handle, and effective when integrated with balanced nutrient management.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8732520"/>
            <a:ext cx="5797296" cy="2697480"/>
          </a:xfrm>
          <a:prstGeom prst="rect">
            <a:avLst/>
          </a:prstGeom>
          <a:solidFill>
            <a:srgbClr val="F3F9F4"/>
          </a:solidFill>
          <a:ln w="22860">
            <a:solidFill>
              <a:srgbClr val="4E8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376D41"/>
                </a:solidFill>
              </a:rPr>
              <a:t>Image Placeholder: Healthy high-yield field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6638544" cy="11969496"/>
          </a:xfrm>
          <a:prstGeom prst="rect">
            <a:avLst/>
          </a:prstGeom>
          <a:noFill/>
          <a:ln w="27940">
            <a:solidFill>
              <a:srgbClr val="1F5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411480"/>
            <a:ext cx="5980176" cy="914400"/>
          </a:xfrm>
          <a:prstGeom prst="roundRect">
            <a:avLst/>
          </a:prstGeom>
          <a:solidFill>
            <a:srgbClr val="397B47"/>
          </a:solidFill>
          <a:ln>
            <a:solidFill>
              <a:srgbClr val="39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FFFFFF"/>
                </a:solidFill>
              </a:rPr>
              <a:t>Negative Effects of Chemical Fertilizers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0200"/>
            <a:ext cx="5797296" cy="662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D1D1D"/>
                </a:solidFill>
              </a:rPr>
              <a:t>• Overuse of chemical fertilizers may degrade soil health and reduce beneficial microorganisms.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D1D1D"/>
                </a:solidFill>
              </a:rPr>
              <a:t>• Runoff and leaching can pollute water bodies and create long-term environmental concerns.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8732520"/>
            <a:ext cx="5797296" cy="2697480"/>
          </a:xfrm>
          <a:prstGeom prst="rect">
            <a:avLst/>
          </a:prstGeom>
          <a:solidFill>
            <a:srgbClr val="F3F9F4"/>
          </a:solidFill>
          <a:ln w="22860">
            <a:solidFill>
              <a:srgbClr val="4E8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376D41"/>
                </a:solidFill>
              </a:rPr>
              <a:t>Image Placeholder: Fertilizer runoff and pollution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6638544" cy="11969496"/>
          </a:xfrm>
          <a:prstGeom prst="rect">
            <a:avLst/>
          </a:prstGeom>
          <a:noFill/>
          <a:ln w="27940">
            <a:solidFill>
              <a:srgbClr val="1F5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411480"/>
            <a:ext cx="5980176" cy="914400"/>
          </a:xfrm>
          <a:prstGeom prst="roundRect">
            <a:avLst/>
          </a:prstGeom>
          <a:solidFill>
            <a:srgbClr val="397B47"/>
          </a:solidFill>
          <a:ln>
            <a:solidFill>
              <a:srgbClr val="39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FFFFFF"/>
                </a:solidFill>
              </a:rPr>
              <a:t>Apparatus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0200"/>
            <a:ext cx="5797296" cy="662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D1D1D"/>
                </a:solidFill>
              </a:rPr>
              <a:t>• Seeds, pots or trays, soil, urea fertilizer, measuring spoon, labels, watering can, ruler, and observation notebook.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D1D1D"/>
                </a:solidFill>
              </a:rPr>
              <a:t>• All apparatus should be standardized to ensure fair comparison across treatments.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8732520"/>
            <a:ext cx="5797296" cy="2697480"/>
          </a:xfrm>
          <a:prstGeom prst="rect">
            <a:avLst/>
          </a:prstGeom>
          <a:solidFill>
            <a:srgbClr val="F3F9F4"/>
          </a:solidFill>
          <a:ln w="22860">
            <a:solidFill>
              <a:srgbClr val="4E8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376D41"/>
                </a:solidFill>
              </a:rPr>
              <a:t>Image Placeholder: Apparatus layout on table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6638544" cy="11969496"/>
          </a:xfrm>
          <a:prstGeom prst="rect">
            <a:avLst/>
          </a:prstGeom>
          <a:noFill/>
          <a:ln w="27940">
            <a:solidFill>
              <a:srgbClr val="1F5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411480"/>
            <a:ext cx="5980176" cy="914400"/>
          </a:xfrm>
          <a:prstGeom prst="roundRect">
            <a:avLst/>
          </a:prstGeom>
          <a:solidFill>
            <a:srgbClr val="397B47"/>
          </a:solidFill>
          <a:ln>
            <a:solidFill>
              <a:srgbClr val="39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FFFFFF"/>
                </a:solidFill>
              </a:rPr>
              <a:t>Procedure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0200"/>
            <a:ext cx="5797296" cy="662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D1D1D"/>
                </a:solidFill>
              </a:rPr>
              <a:t>• Prepare equal pots, sow the same seed type, and create one control plus multiple urea-treatment groups.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D1D1D"/>
                </a:solidFill>
              </a:rPr>
              <a:t>• Maintain equal water and light, then record germination and growth data for at least two weeks.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8732520"/>
            <a:ext cx="5797296" cy="2697480"/>
          </a:xfrm>
          <a:prstGeom prst="rect">
            <a:avLst/>
          </a:prstGeom>
          <a:solidFill>
            <a:srgbClr val="F3F9F4"/>
          </a:solidFill>
          <a:ln w="22860">
            <a:solidFill>
              <a:srgbClr val="4E8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376D41"/>
                </a:solidFill>
              </a:rPr>
              <a:t>Image Placeholder: Experimental workflow steps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6638544" cy="11969496"/>
          </a:xfrm>
          <a:prstGeom prst="rect">
            <a:avLst/>
          </a:prstGeom>
          <a:noFill/>
          <a:ln w="27940">
            <a:solidFill>
              <a:srgbClr val="1F5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411480"/>
            <a:ext cx="5980176" cy="914400"/>
          </a:xfrm>
          <a:prstGeom prst="roundRect">
            <a:avLst/>
          </a:prstGeom>
          <a:solidFill>
            <a:srgbClr val="397B47"/>
          </a:solidFill>
          <a:ln>
            <a:solidFill>
              <a:srgbClr val="39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FFFFFF"/>
                </a:solidFill>
              </a:rPr>
              <a:t>Observation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0200"/>
            <a:ext cx="5797296" cy="662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D1D1D"/>
                </a:solidFill>
              </a:rPr>
              <a:t>• Moderate urea treatment generally produced greener leaves and stronger growth than the control group.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D1D1D"/>
                </a:solidFill>
              </a:rPr>
              <a:t>• High-dose treatment showed stress signs such as reduced vigor, yellowing, or leaf-edge damage.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8732520"/>
            <a:ext cx="5797296" cy="2697480"/>
          </a:xfrm>
          <a:prstGeom prst="rect">
            <a:avLst/>
          </a:prstGeom>
          <a:solidFill>
            <a:srgbClr val="F3F9F4"/>
          </a:solidFill>
          <a:ln w="22860">
            <a:solidFill>
              <a:srgbClr val="4E8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376D41"/>
                </a:solidFill>
              </a:rPr>
              <a:t>Image Placeholder: Observation table and pot photos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6638544" cy="11969496"/>
          </a:xfrm>
          <a:prstGeom prst="rect">
            <a:avLst/>
          </a:prstGeom>
          <a:noFill/>
          <a:ln w="27940">
            <a:solidFill>
              <a:srgbClr val="1F5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411480"/>
            <a:ext cx="5980176" cy="914400"/>
          </a:xfrm>
          <a:prstGeom prst="roundRect">
            <a:avLst/>
          </a:prstGeom>
          <a:solidFill>
            <a:srgbClr val="397B47"/>
          </a:solidFill>
          <a:ln>
            <a:solidFill>
              <a:srgbClr val="39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FFFFFF"/>
                </a:solidFill>
              </a:rPr>
              <a:t>Inference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0200"/>
            <a:ext cx="5797296" cy="662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D1D1D"/>
                </a:solidFill>
              </a:rPr>
              <a:t>• Plant response to urea is dose-dependent: optimal levels are beneficial, while excess is harmful.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D1D1D"/>
                </a:solidFill>
              </a:rPr>
              <a:t>• Therefore, precise dose management is essential for consistent and healthy plant development.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8732520"/>
            <a:ext cx="5797296" cy="2697480"/>
          </a:xfrm>
          <a:prstGeom prst="rect">
            <a:avLst/>
          </a:prstGeom>
          <a:solidFill>
            <a:srgbClr val="F3F9F4"/>
          </a:solidFill>
          <a:ln w="22860">
            <a:solidFill>
              <a:srgbClr val="4E8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376D41"/>
                </a:solidFill>
              </a:rPr>
              <a:t>Image Placeholder: Growth response graph by dose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6638544" cy="11969496"/>
          </a:xfrm>
          <a:prstGeom prst="rect">
            <a:avLst/>
          </a:prstGeom>
          <a:noFill/>
          <a:ln w="27940">
            <a:solidFill>
              <a:srgbClr val="1F5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411480"/>
            <a:ext cx="5980176" cy="914400"/>
          </a:xfrm>
          <a:prstGeom prst="roundRect">
            <a:avLst/>
          </a:prstGeom>
          <a:solidFill>
            <a:srgbClr val="397B47"/>
          </a:solidFill>
          <a:ln>
            <a:solidFill>
              <a:srgbClr val="39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0200"/>
            <a:ext cx="5797296" cy="662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D1D1D"/>
                </a:solidFill>
              </a:rPr>
              <a:t>• Urea is an effective nitrogen source for improving plant growth when used responsibly.</a:t>
            </a:r>
          </a:p>
          <a:p>
            <a:pPr algn="l">
              <a:spcAft>
                <a:spcPts val="1000"/>
              </a:spcAft>
            </a:pPr>
            <a:r>
              <a:rPr sz="1800">
                <a:solidFill>
                  <a:srgbClr val="1D1D1D"/>
                </a:solidFill>
              </a:rPr>
              <a:t>• Sustainable practice requires balanced application to protect soil quality, plant health, and the environment.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8732520"/>
            <a:ext cx="5797296" cy="2697480"/>
          </a:xfrm>
          <a:prstGeom prst="rect">
            <a:avLst/>
          </a:prstGeom>
          <a:solidFill>
            <a:srgbClr val="F3F9F4"/>
          </a:solidFill>
          <a:ln w="22860">
            <a:solidFill>
              <a:srgbClr val="4E8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376D41"/>
                </a:solidFill>
              </a:rPr>
              <a:t>Image Placeholder: Sustainable nutrient management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6638544" cy="11969496"/>
          </a:xfrm>
          <a:prstGeom prst="rect">
            <a:avLst/>
          </a:prstGeom>
          <a:noFill/>
          <a:ln w="27940">
            <a:solidFill>
              <a:srgbClr val="1F5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8912" y="411480"/>
            <a:ext cx="5980176" cy="914400"/>
          </a:xfrm>
          <a:prstGeom prst="roundRect">
            <a:avLst/>
          </a:prstGeom>
          <a:solidFill>
            <a:srgbClr val="397B47"/>
          </a:solidFill>
          <a:ln>
            <a:solidFill>
              <a:srgbClr val="397B4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240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600200"/>
            <a:ext cx="5797296" cy="6629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>
                <a:solidFill>
                  <a:srgbClr val="1D1D1D"/>
                </a:solidFill>
              </a:rPr>
              <a:t>Thank you for your attention.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8732520"/>
            <a:ext cx="5797296" cy="2697480"/>
          </a:xfrm>
          <a:prstGeom prst="rect">
            <a:avLst/>
          </a:prstGeom>
          <a:solidFill>
            <a:srgbClr val="F3F9F4"/>
          </a:solidFill>
          <a:ln w="22860">
            <a:solidFill>
              <a:srgbClr val="4E8C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600">
                <a:solidFill>
                  <a:srgbClr val="376D41"/>
                </a:solidFill>
              </a:rPr>
              <a:t>Image Placeholder: Plant-themed thank you visual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